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0861F-8ECC-413F-ABEA-1CCFA18F3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E0468E-3590-4975-AD63-BA6311DF0E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E8A1B-2E26-44A9-A797-44D1C1245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BB6A-5E69-440D-AFFE-4FACF7E50FF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6EA7E-5BE6-4341-98AA-C54E3E2EB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C46A5-CE53-4B92-9F47-76EF6D452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AA4BF-8294-464D-ABD7-7AEED92572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736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23421-3C04-4185-B4BD-92C290798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208E1-8D8D-4770-B521-12BF45D8F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1DE96-20E0-4DF8-98A3-60E73DDC2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BB6A-5E69-440D-AFFE-4FACF7E50FF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6D4E1-F406-45EC-8857-26AA3B2B1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987D8-E297-4BC1-93F8-2025612E6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AA4BF-8294-464D-ABD7-7AEED92572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264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9C317-5E04-4002-923C-E69AC67B7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E8C4AA-4066-4B4A-ABC4-75158E9A3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683C6-27AF-43FA-AE85-975B81A5C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BB6A-5E69-440D-AFFE-4FACF7E50FF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CCCDC-BCF3-456A-8C94-06BDB7AD7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13947-CBF7-4241-AE5C-456CA3D6A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AA4BF-8294-464D-ABD7-7AEED92572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605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F3ACA-7822-4BD4-8570-2969B4300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B7832-83CC-4D5F-936E-14051F1960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92196A-2C26-4F8E-90D2-D28707FDCB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9AB3C7-55C4-4165-903A-4D3253559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BB6A-5E69-440D-AFFE-4FACF7E50FF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EEE343-854D-4A62-8D1F-9D365AAA1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A9CE9-D234-41B7-A4B4-1ED57E36D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AA4BF-8294-464D-ABD7-7AEED92572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661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373C2-62AB-4147-88F1-06371F274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93113-8A10-4EFB-A469-5E8A0E9D4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CDEE0-C722-4FC0-A99E-3D91F780C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C2DF5E-796E-4DAF-8243-0D2609A8FE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264EC0-2B9A-48B9-B88A-58FCBB8A83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09C0C5-E083-420A-AA28-2D6923F36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BB6A-5E69-440D-AFFE-4FACF7E50FF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0553C2-002E-46F7-89C5-8700BE932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D03C65-C25B-441F-831B-423632079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AA4BF-8294-464D-ABD7-7AEED92572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051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BB31F-1B31-4139-B26C-1B10DDC6C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F6C04B-DD65-4A0C-BA0B-469B2D794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BB6A-5E69-440D-AFFE-4FACF7E50FF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84CB9C-9FDC-417F-B0DA-36246F081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302939-F12E-499A-8043-4DA0955D5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AA4BF-8294-464D-ABD7-7AEED92572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56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AEB3D2-0D01-4D5B-BEA2-B04429BC2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BB6A-5E69-440D-AFFE-4FACF7E50FF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C8967F-A342-4DA4-A3AC-D42FCC4FC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93242-3616-467E-B45C-09A230657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AA4BF-8294-464D-ABD7-7AEED92572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106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ED1EA-25C6-438F-A80C-DF5CFAF29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4D5C3-5E97-4DF9-93F1-D3613E084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140331-26C1-4923-99B3-48EB040A1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D81D5-3CD5-4E5A-98AE-4E3F02F00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BB6A-5E69-440D-AFFE-4FACF7E50FF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BC3024-77AB-46D5-8E54-0ED49A0D6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855D4-A968-4575-8F71-565F725B0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AA4BF-8294-464D-ABD7-7AEED92572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885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BCC45-C5DA-428F-81E4-2D64F1FF1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ED03C0-C0BA-4D96-967A-5485EF298A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331060-7A6F-4D18-8EA0-749B7DB31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185F5-CBD8-43EA-85B4-BA87CBA6E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BB6A-5E69-440D-AFFE-4FACF7E50FF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A68F5F-62A5-415D-89E9-FA936B94F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B7B57-1815-4FC6-9D2E-4F2762B0C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AA4BF-8294-464D-ABD7-7AEED92572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2514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4E22-5D87-4A7D-BEE0-1DCAFD7C6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C4A045-610B-418A-985D-8DC116D771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12AA2-7511-4424-B373-1A9DA1A15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BB6A-5E69-440D-AFFE-4FACF7E50FF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21425-5A04-40F1-8289-51C365E5E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392AF-1BB3-4B32-B3E2-B49998B9A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AA4BF-8294-464D-ABD7-7AEED92572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72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B7833B-B507-4A40-AF1A-308734B8CB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14DA3B-83EB-40DD-A874-A4BDE44766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D6F89-97DA-4190-BE21-ECE59184F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BB6A-5E69-440D-AFFE-4FACF7E50FF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4F8BA-F691-4D3A-A469-878606CB7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14963-99DB-4F12-9D10-F5378113C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AA4BF-8294-464D-ABD7-7AEED92572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188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31C7CA-10DC-42EE-9A08-6B7C60996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BB519-954D-4488-BEE2-0A15AF8E9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1C76D-5500-4BE3-9FC0-528EBCF9BE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1BB6A-5E69-440D-AFFE-4FACF7E50FFE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3A02E-B9A4-43D6-ABAA-4EDB93F5AD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69BF1-325B-44CE-B916-6F634D319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AA4BF-8294-464D-ABD7-7AEED92572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656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B4415A-CE35-4463-85C4-6B8C67274FB6}"/>
              </a:ext>
            </a:extLst>
          </p:cNvPr>
          <p:cNvSpPr txBox="1"/>
          <p:nvPr/>
        </p:nvSpPr>
        <p:spPr>
          <a:xfrm>
            <a:off x="660400" y="685800"/>
            <a:ext cx="533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200" b="1">
                <a:solidFill>
                  <a:srgbClr val="F5820C"/>
                </a:solidFill>
                <a:latin typeface="Aptos"/>
              </a:rPr>
              <a:t>ANZ CABS  /  RIDE + TRANSPORT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B0101B-7E3F-482C-864C-6B6E34BA3798}"/>
              </a:ext>
            </a:extLst>
          </p:cNvPr>
          <p:cNvSpPr txBox="1"/>
          <p:nvPr/>
        </p:nvSpPr>
        <p:spPr>
          <a:xfrm>
            <a:off x="660400" y="1612900"/>
            <a:ext cx="49530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3400" b="1">
                <a:solidFill>
                  <a:srgbClr val="FFFFFF"/>
                </a:solidFill>
                <a:latin typeface="Aptos"/>
              </a:rPr>
              <a:t>Ride &amp; Transport</a:t>
            </a:r>
          </a:p>
          <a:p>
            <a:r>
              <a:rPr lang="en-IN" sz="3400" b="1">
                <a:solidFill>
                  <a:srgbClr val="FFFFFF"/>
                </a:solidFill>
                <a:latin typeface="Aptos"/>
              </a:rPr>
              <a:t>Admin Platform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7DB4D6-9201-4DD2-823F-B892FEBFF21C}"/>
              </a:ext>
            </a:extLst>
          </p:cNvPr>
          <p:cNvSpPr txBox="1"/>
          <p:nvPr/>
        </p:nvSpPr>
        <p:spPr>
          <a:xfrm>
            <a:off x="685800" y="3175000"/>
            <a:ext cx="4572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C5D0E2"/>
                </a:solidFill>
                <a:latin typeface="Aptos"/>
              </a:rPr>
              <a:t>A visual walkthrough of the browser-based control center</a:t>
            </a:r>
            <a:endParaRPr lang="en-IN" sz="1600">
              <a:solidFill>
                <a:srgbClr val="C5D0E2"/>
              </a:solidFill>
              <a:latin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0D85DE-CEF5-474F-8CC1-20A62DDB1E0A}"/>
              </a:ext>
            </a:extLst>
          </p:cNvPr>
          <p:cNvSpPr/>
          <p:nvPr/>
        </p:nvSpPr>
        <p:spPr>
          <a:xfrm>
            <a:off x="685800" y="4152900"/>
            <a:ext cx="787400" cy="63500"/>
          </a:xfrm>
          <a:prstGeom prst="rect">
            <a:avLst/>
          </a:prstGeom>
          <a:solidFill>
            <a:srgbClr val="F582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24A303-C0A4-4CBA-AB20-D046453FFCA2}"/>
              </a:ext>
            </a:extLst>
          </p:cNvPr>
          <p:cNvSpPr txBox="1"/>
          <p:nvPr/>
        </p:nvSpPr>
        <p:spPr>
          <a:xfrm>
            <a:off x="685800" y="4419600"/>
            <a:ext cx="4635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C5D0E2"/>
                </a:solidFill>
                <a:latin typeface="Aptos"/>
              </a:rPr>
              <a:t>Operations, users, fleet, finance and platform controls</a:t>
            </a:r>
            <a:endParaRPr lang="en-IN" sz="1200">
              <a:solidFill>
                <a:srgbClr val="C5D0E2"/>
              </a:solidFill>
              <a:latin typeface="Apto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9518841-BCAD-4648-AE20-880B3C783D88}"/>
              </a:ext>
            </a:extLst>
          </p:cNvPr>
          <p:cNvSpPr/>
          <p:nvPr/>
        </p:nvSpPr>
        <p:spPr>
          <a:xfrm>
            <a:off x="6070600" y="1054100"/>
            <a:ext cx="5486400" cy="4635500"/>
          </a:xfrm>
          <a:prstGeom prst="roundRect">
            <a:avLst/>
          </a:prstGeom>
          <a:solidFill>
            <a:srgbClr val="192A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0B7CC2-D212-4F9B-81B9-DF45E0E8B8C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1900238"/>
            <a:ext cx="5232400" cy="29432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723A2B9-54B2-4DC5-B65B-959100E96F01}"/>
              </a:ext>
            </a:extLst>
          </p:cNvPr>
          <p:cNvSpPr txBox="1"/>
          <p:nvPr/>
        </p:nvSpPr>
        <p:spPr>
          <a:xfrm>
            <a:off x="660400" y="6210300"/>
            <a:ext cx="9779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92A2BC"/>
                </a:solidFill>
                <a:latin typeface="Aptos"/>
              </a:rPr>
              <a:t>ADMIN WEB UI  •  SCREENSHOTS CAPTURED FROM THE RUNNING APP</a:t>
            </a:r>
            <a:endParaRPr lang="en-IN" sz="800">
              <a:solidFill>
                <a:srgbClr val="92A2BC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70F2C2-1590-4CD3-A060-301BBAA14B7F}"/>
              </a:ext>
            </a:extLst>
          </p:cNvPr>
          <p:cNvSpPr txBox="1"/>
          <p:nvPr/>
        </p:nvSpPr>
        <p:spPr>
          <a:xfrm>
            <a:off x="11430000" y="6210300"/>
            <a:ext cx="317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800" b="1">
                <a:solidFill>
                  <a:srgbClr val="92A2BC"/>
                </a:solidFill>
                <a:latin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665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C05747-1BF7-4466-93DC-3F8EDFAE052E}"/>
              </a:ext>
            </a:extLst>
          </p:cNvPr>
          <p:cNvSpPr txBox="1"/>
          <p:nvPr/>
        </p:nvSpPr>
        <p:spPr>
          <a:xfrm>
            <a:off x="609600" y="381000"/>
            <a:ext cx="6350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2500" b="1">
                <a:solidFill>
                  <a:srgbClr val="0E1B32"/>
                </a:solidFill>
                <a:latin typeface="Aptos"/>
              </a:rPr>
              <a:t>Admin web frontend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EB9D8D-6B5E-4192-B84D-B502F823D4AA}"/>
              </a:ext>
            </a:extLst>
          </p:cNvPr>
          <p:cNvSpPr txBox="1"/>
          <p:nvPr/>
        </p:nvSpPr>
        <p:spPr>
          <a:xfrm>
            <a:off x="609600" y="838200"/>
            <a:ext cx="698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51617C"/>
                </a:solidFill>
                <a:latin typeface="Aptos"/>
              </a:rPr>
              <a:t>A dedicated sign-in flow protects the operations console.</a:t>
            </a:r>
            <a:endParaRPr lang="en-IN" sz="1200">
              <a:solidFill>
                <a:srgbClr val="51617C"/>
              </a:solidFill>
              <a:latin typeface="Apto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91793E-E297-4576-9ECE-7619435EEE62}"/>
              </a:ext>
            </a:extLst>
          </p:cNvPr>
          <p:cNvSpPr/>
          <p:nvPr/>
        </p:nvSpPr>
        <p:spPr>
          <a:xfrm>
            <a:off x="609600" y="1371600"/>
            <a:ext cx="4610100" cy="44958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95F885-BB0A-4A6D-8611-60EFE0C69C9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" y="2148593"/>
            <a:ext cx="4254500" cy="29545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298949-31F0-4707-8717-8463598408BF}"/>
              </a:ext>
            </a:extLst>
          </p:cNvPr>
          <p:cNvSpPr txBox="1"/>
          <p:nvPr/>
        </p:nvSpPr>
        <p:spPr>
          <a:xfrm>
            <a:off x="5765800" y="1765300"/>
            <a:ext cx="5588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2000" b="1">
                <a:solidFill>
                  <a:srgbClr val="0E1B32"/>
                </a:solidFill>
                <a:latin typeface="Aptos"/>
              </a:rPr>
              <a:t>Two-step sign-in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FB7086-BF5F-4258-8343-290E65E45A81}"/>
              </a:ext>
            </a:extLst>
          </p:cNvPr>
          <p:cNvSpPr txBox="1"/>
          <p:nvPr/>
        </p:nvSpPr>
        <p:spPr>
          <a:xfrm>
            <a:off x="5765800" y="2489200"/>
            <a:ext cx="5524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33435F"/>
                </a:solidFill>
                <a:latin typeface="Aptos"/>
              </a:rPr>
              <a:t>1  Enter an admin email and password</a:t>
            </a:r>
            <a:endParaRPr lang="en-IN" sz="1300">
              <a:solidFill>
                <a:srgbClr val="33435F"/>
              </a:solidFill>
              <a:latin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19FAA6-6BEB-4712-A008-34D45F2274B9}"/>
              </a:ext>
            </a:extLst>
          </p:cNvPr>
          <p:cNvSpPr txBox="1"/>
          <p:nvPr/>
        </p:nvSpPr>
        <p:spPr>
          <a:xfrm>
            <a:off x="5765800" y="3035300"/>
            <a:ext cx="5524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33435F"/>
                </a:solidFill>
                <a:latin typeface="Aptos"/>
              </a:rPr>
              <a:t>2  Verify the one-time code sent to the admin phone</a:t>
            </a:r>
            <a:endParaRPr lang="en-IN" sz="1300">
              <a:solidFill>
                <a:srgbClr val="33435F"/>
              </a:solidFill>
              <a:latin typeface="Apto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0ACE75-0CAD-4511-96AC-CC6B31CC3C69}"/>
              </a:ext>
            </a:extLst>
          </p:cNvPr>
          <p:cNvSpPr txBox="1"/>
          <p:nvPr/>
        </p:nvSpPr>
        <p:spPr>
          <a:xfrm>
            <a:off x="5765800" y="4000500"/>
            <a:ext cx="546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51617C"/>
                </a:solidFill>
                <a:latin typeface="Aptos"/>
              </a:rPr>
              <a:t>Development mode displays the OTP in the UI for demo access.</a:t>
            </a:r>
            <a:endParaRPr lang="en-IN" sz="1200">
              <a:solidFill>
                <a:srgbClr val="51617C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08A263-98F9-446D-AEB9-F9A7705970C5}"/>
              </a:ext>
            </a:extLst>
          </p:cNvPr>
          <p:cNvSpPr txBox="1"/>
          <p:nvPr/>
        </p:nvSpPr>
        <p:spPr>
          <a:xfrm>
            <a:off x="5765800" y="5003800"/>
            <a:ext cx="5397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51617C"/>
                </a:solidFill>
                <a:latin typeface="Aptos"/>
              </a:rPr>
              <a:t>Role-based access is enforced by the API.</a:t>
            </a:r>
            <a:endParaRPr lang="en-IN" sz="1200" b="1">
              <a:solidFill>
                <a:srgbClr val="51617C"/>
              </a:solidFill>
              <a:latin typeface="Apto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8A87E4-C50C-4BB6-BBBC-AF735EEAB244}"/>
              </a:ext>
            </a:extLst>
          </p:cNvPr>
          <p:cNvSpPr txBox="1"/>
          <p:nvPr/>
        </p:nvSpPr>
        <p:spPr>
          <a:xfrm>
            <a:off x="584200" y="66040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800">
                <a:solidFill>
                  <a:srgbClr val="74819A"/>
                </a:solidFill>
                <a:latin typeface="Aptos"/>
              </a:rPr>
              <a:t>ANZ CABS  |  RIDER &amp; TRANSPORT PLATFORM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852295-C894-4A96-9CDA-E0E5E789E89F}"/>
              </a:ext>
            </a:extLst>
          </p:cNvPr>
          <p:cNvSpPr txBox="1"/>
          <p:nvPr/>
        </p:nvSpPr>
        <p:spPr>
          <a:xfrm>
            <a:off x="11430000" y="6591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800" b="1">
                <a:solidFill>
                  <a:srgbClr val="74819A"/>
                </a:solidFill>
                <a:latin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2138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A8D1CF-E3A0-4EBE-B835-DBE5D667B272}"/>
              </a:ext>
            </a:extLst>
          </p:cNvPr>
          <p:cNvSpPr txBox="1"/>
          <p:nvPr/>
        </p:nvSpPr>
        <p:spPr>
          <a:xfrm>
            <a:off x="609600" y="2794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2400" b="1">
                <a:solidFill>
                  <a:srgbClr val="0E1B32"/>
                </a:solidFill>
                <a:latin typeface="Aptos"/>
              </a:rPr>
              <a:t>Operations 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44002F-A5E2-4A14-A593-05D97987E150}"/>
              </a:ext>
            </a:extLst>
          </p:cNvPr>
          <p:cNvSpPr txBox="1"/>
          <p:nvPr/>
        </p:nvSpPr>
        <p:spPr>
          <a:xfrm>
            <a:off x="609600" y="660400"/>
            <a:ext cx="787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51617C"/>
                </a:solidFill>
                <a:latin typeface="Aptos"/>
              </a:rPr>
              <a:t>Live overview across Ride and Transport services</a:t>
            </a:r>
            <a:endParaRPr lang="en-IN" sz="1100">
              <a:solidFill>
                <a:srgbClr val="51617C"/>
              </a:solidFill>
              <a:latin typeface="Apto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AC08B3-B5CE-4E68-B0E1-DEF971DC231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333" y="965200"/>
            <a:ext cx="9821333" cy="5524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A712B1-7719-4F4B-956C-B85B36D171B6}"/>
              </a:ext>
            </a:extLst>
          </p:cNvPr>
          <p:cNvSpPr txBox="1"/>
          <p:nvPr/>
        </p:nvSpPr>
        <p:spPr>
          <a:xfrm>
            <a:off x="584200" y="66040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800">
                <a:solidFill>
                  <a:srgbClr val="74819A"/>
                </a:solidFill>
                <a:latin typeface="Aptos"/>
              </a:rPr>
              <a:t>ANZ CABS  |  RIDER &amp; TRANSPORT PLATFORM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68D611-19F5-4858-81B8-948949AB5F3C}"/>
              </a:ext>
            </a:extLst>
          </p:cNvPr>
          <p:cNvSpPr txBox="1"/>
          <p:nvPr/>
        </p:nvSpPr>
        <p:spPr>
          <a:xfrm>
            <a:off x="11430000" y="6591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800" b="1">
                <a:solidFill>
                  <a:srgbClr val="74819A"/>
                </a:solidFill>
                <a:latin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475939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D76802-01DA-4766-BDEE-543F9ACE5BFB}"/>
              </a:ext>
            </a:extLst>
          </p:cNvPr>
          <p:cNvSpPr txBox="1"/>
          <p:nvPr/>
        </p:nvSpPr>
        <p:spPr>
          <a:xfrm>
            <a:off x="609600" y="279400"/>
            <a:ext cx="825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2400" b="1">
                <a:solidFill>
                  <a:srgbClr val="0E1B32"/>
                </a:solidFill>
                <a:latin typeface="Aptos"/>
              </a:rPr>
              <a:t>Bookings &amp; service operations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388408-E6A6-485B-A7D0-9B55BC2ABDB9}"/>
              </a:ext>
            </a:extLst>
          </p:cNvPr>
          <p:cNvSpPr txBox="1"/>
          <p:nvPr/>
        </p:nvSpPr>
        <p:spPr>
          <a:xfrm>
            <a:off x="609600" y="660400"/>
            <a:ext cx="863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51617C"/>
                </a:solidFill>
                <a:latin typeface="Aptos"/>
              </a:rPr>
              <a:t>Manage booking workflows, active services and exceptions</a:t>
            </a:r>
            <a:endParaRPr lang="en-IN" sz="1100">
              <a:solidFill>
                <a:srgbClr val="51617C"/>
              </a:solidFill>
              <a:latin typeface="Apto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7D3A5C-3599-4FD9-9D60-8B53B1FEC18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333" y="965200"/>
            <a:ext cx="9821333" cy="5524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2C1232-2555-425E-BCB0-CD298ECF7008}"/>
              </a:ext>
            </a:extLst>
          </p:cNvPr>
          <p:cNvSpPr txBox="1"/>
          <p:nvPr/>
        </p:nvSpPr>
        <p:spPr>
          <a:xfrm>
            <a:off x="584200" y="66040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800">
                <a:solidFill>
                  <a:srgbClr val="74819A"/>
                </a:solidFill>
                <a:latin typeface="Aptos"/>
              </a:rPr>
              <a:t>ANZ CABS  |  RIDER &amp; TRANSPORT PLATFORM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5E4BDE-5DFB-424A-8469-F941759E85FD}"/>
              </a:ext>
            </a:extLst>
          </p:cNvPr>
          <p:cNvSpPr txBox="1"/>
          <p:nvPr/>
        </p:nvSpPr>
        <p:spPr>
          <a:xfrm>
            <a:off x="11430000" y="6591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800" b="1">
                <a:solidFill>
                  <a:srgbClr val="74819A"/>
                </a:solidFill>
                <a:latin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32838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52895A-CDAE-4FC7-A4F8-8832AFCE182C}"/>
              </a:ext>
            </a:extLst>
          </p:cNvPr>
          <p:cNvSpPr txBox="1"/>
          <p:nvPr/>
        </p:nvSpPr>
        <p:spPr>
          <a:xfrm>
            <a:off x="609600" y="355600"/>
            <a:ext cx="7112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2500" b="1">
                <a:solidFill>
                  <a:srgbClr val="0E1B32"/>
                </a:solidFill>
                <a:latin typeface="Aptos"/>
              </a:rPr>
              <a:t>Platform capabilities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5BE80F-4104-4BAF-887A-3F82BE592BF8}"/>
              </a:ext>
            </a:extLst>
          </p:cNvPr>
          <p:cNvSpPr txBox="1"/>
          <p:nvPr/>
        </p:nvSpPr>
        <p:spPr>
          <a:xfrm>
            <a:off x="609600" y="800100"/>
            <a:ext cx="825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51617C"/>
                </a:solidFill>
                <a:latin typeface="Aptos"/>
              </a:rPr>
              <a:t>A single admin console covers the main operational domains.</a:t>
            </a:r>
            <a:endParaRPr lang="en-IN" sz="1200">
              <a:solidFill>
                <a:srgbClr val="51617C"/>
              </a:solidFill>
              <a:latin typeface="Apto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7541DCA-8D9C-459C-B034-46463DEA1BFA}"/>
              </a:ext>
            </a:extLst>
          </p:cNvPr>
          <p:cNvSpPr/>
          <p:nvPr/>
        </p:nvSpPr>
        <p:spPr>
          <a:xfrm>
            <a:off x="609600" y="1422400"/>
            <a:ext cx="5334000" cy="1295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33D6FA-DE8C-4B9E-9A73-1233B4B288DE}"/>
              </a:ext>
            </a:extLst>
          </p:cNvPr>
          <p:cNvSpPr/>
          <p:nvPr/>
        </p:nvSpPr>
        <p:spPr>
          <a:xfrm>
            <a:off x="838200" y="1676400"/>
            <a:ext cx="63500" cy="774700"/>
          </a:xfrm>
          <a:prstGeom prst="rect">
            <a:avLst/>
          </a:prstGeom>
          <a:solidFill>
            <a:srgbClr val="F582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E9EF3D-3EE6-4894-B3D5-88DC2AA13DA1}"/>
              </a:ext>
            </a:extLst>
          </p:cNvPr>
          <p:cNvSpPr txBox="1"/>
          <p:nvPr/>
        </p:nvSpPr>
        <p:spPr>
          <a:xfrm>
            <a:off x="1092200" y="1625600"/>
            <a:ext cx="457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F5820C"/>
                </a:solidFill>
                <a:latin typeface="Aptos"/>
              </a:rPr>
              <a:t>OPERATIONS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D877C5-2D2E-4F5C-8C84-3AD75AB6A595}"/>
              </a:ext>
            </a:extLst>
          </p:cNvPr>
          <p:cNvSpPr txBox="1"/>
          <p:nvPr/>
        </p:nvSpPr>
        <p:spPr>
          <a:xfrm>
            <a:off x="1092200" y="1955800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33435F"/>
                </a:solidFill>
                <a:latin typeface="Aptos"/>
              </a:rPr>
              <a:t>Bookings • categories • live tracking</a:t>
            </a:r>
          </a:p>
          <a:p>
            <a:r>
              <a:rPr lang="en-US" sz="1100">
                <a:solidFill>
                  <a:srgbClr val="33435F"/>
                </a:solidFill>
                <a:latin typeface="Aptos"/>
              </a:rPr>
              <a:t>Active rides • deliveries • SOS</a:t>
            </a:r>
            <a:endParaRPr lang="en-IN" sz="1100">
              <a:solidFill>
                <a:srgbClr val="33435F"/>
              </a:solidFill>
              <a:latin typeface="Apto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F869008-4C43-4EFD-8AE8-7FE704FF3A86}"/>
              </a:ext>
            </a:extLst>
          </p:cNvPr>
          <p:cNvSpPr/>
          <p:nvPr/>
        </p:nvSpPr>
        <p:spPr>
          <a:xfrm>
            <a:off x="6248400" y="1422400"/>
            <a:ext cx="5334000" cy="1295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91CBB3-03FB-4ECD-BFDB-A8A4398E7F81}"/>
              </a:ext>
            </a:extLst>
          </p:cNvPr>
          <p:cNvSpPr/>
          <p:nvPr/>
        </p:nvSpPr>
        <p:spPr>
          <a:xfrm>
            <a:off x="6477000" y="1676400"/>
            <a:ext cx="63500" cy="774700"/>
          </a:xfrm>
          <a:prstGeom prst="rect">
            <a:avLst/>
          </a:prstGeom>
          <a:solidFill>
            <a:srgbClr val="F582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3A7A2-2D48-45DD-A453-57214D52E939}"/>
              </a:ext>
            </a:extLst>
          </p:cNvPr>
          <p:cNvSpPr txBox="1"/>
          <p:nvPr/>
        </p:nvSpPr>
        <p:spPr>
          <a:xfrm>
            <a:off x="6731000" y="1625600"/>
            <a:ext cx="457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F5820C"/>
                </a:solidFill>
                <a:latin typeface="Aptos"/>
              </a:rPr>
              <a:t>USERS &amp; FLEET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FA79E5-1224-4296-A8FD-C67E8C831AB8}"/>
              </a:ext>
            </a:extLst>
          </p:cNvPr>
          <p:cNvSpPr txBox="1"/>
          <p:nvPr/>
        </p:nvSpPr>
        <p:spPr>
          <a:xfrm>
            <a:off x="6731000" y="1955800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33435F"/>
                </a:solidFill>
                <a:latin typeface="Aptos"/>
              </a:rPr>
              <a:t>Customers • riders • drivers • partners</a:t>
            </a:r>
          </a:p>
          <a:p>
            <a:r>
              <a:rPr lang="en-US" sz="1100">
                <a:solidFill>
                  <a:srgbClr val="33435F"/>
                </a:solidFill>
                <a:latin typeface="Aptos"/>
              </a:rPr>
              <a:t>Vehicles • documents • approvals</a:t>
            </a:r>
            <a:endParaRPr lang="en-IN" sz="1100">
              <a:solidFill>
                <a:srgbClr val="33435F"/>
              </a:solidFill>
              <a:latin typeface="Apto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E41E819-7D29-4DAD-B8F1-1E82821BB22E}"/>
              </a:ext>
            </a:extLst>
          </p:cNvPr>
          <p:cNvSpPr/>
          <p:nvPr/>
        </p:nvSpPr>
        <p:spPr>
          <a:xfrm>
            <a:off x="609600" y="3022600"/>
            <a:ext cx="5334000" cy="1295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1FD350-83F5-43BE-9312-0AC9BEAE7B57}"/>
              </a:ext>
            </a:extLst>
          </p:cNvPr>
          <p:cNvSpPr/>
          <p:nvPr/>
        </p:nvSpPr>
        <p:spPr>
          <a:xfrm>
            <a:off x="838200" y="3276600"/>
            <a:ext cx="63500" cy="774700"/>
          </a:xfrm>
          <a:prstGeom prst="rect">
            <a:avLst/>
          </a:prstGeom>
          <a:solidFill>
            <a:srgbClr val="F582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522E27-92EA-4B7B-852C-229B300AAFB6}"/>
              </a:ext>
            </a:extLst>
          </p:cNvPr>
          <p:cNvSpPr txBox="1"/>
          <p:nvPr/>
        </p:nvSpPr>
        <p:spPr>
          <a:xfrm>
            <a:off x="1092200" y="3225800"/>
            <a:ext cx="457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F5820C"/>
                </a:solidFill>
                <a:latin typeface="Aptos"/>
              </a:rPr>
              <a:t>FINANCE &amp; PRICING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1368BB-2444-4F69-AC40-E660FFFCE461}"/>
              </a:ext>
            </a:extLst>
          </p:cNvPr>
          <p:cNvSpPr txBox="1"/>
          <p:nvPr/>
        </p:nvSpPr>
        <p:spPr>
          <a:xfrm>
            <a:off x="1092200" y="3556000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33435F"/>
                </a:solidFill>
                <a:latin typeface="Aptos"/>
              </a:rPr>
              <a:t>Payments • wallets • commissions</a:t>
            </a:r>
          </a:p>
          <a:p>
            <a:r>
              <a:rPr lang="en-US" sz="1100">
                <a:solidFill>
                  <a:srgbClr val="33435F"/>
                </a:solidFill>
                <a:latin typeface="Aptos"/>
              </a:rPr>
              <a:t>Refunds • settlements • fare rules</a:t>
            </a:r>
            <a:endParaRPr lang="en-IN" sz="1100">
              <a:solidFill>
                <a:srgbClr val="33435F"/>
              </a:solidFill>
              <a:latin typeface="Apto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5B5DB3C-00DB-41A3-B725-37D199512E05}"/>
              </a:ext>
            </a:extLst>
          </p:cNvPr>
          <p:cNvSpPr/>
          <p:nvPr/>
        </p:nvSpPr>
        <p:spPr>
          <a:xfrm>
            <a:off x="6248400" y="3022600"/>
            <a:ext cx="5334000" cy="1295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DC61BA-C850-4DF0-9147-2507579E3EBA}"/>
              </a:ext>
            </a:extLst>
          </p:cNvPr>
          <p:cNvSpPr/>
          <p:nvPr/>
        </p:nvSpPr>
        <p:spPr>
          <a:xfrm>
            <a:off x="6477000" y="3276600"/>
            <a:ext cx="63500" cy="774700"/>
          </a:xfrm>
          <a:prstGeom prst="rect">
            <a:avLst/>
          </a:prstGeom>
          <a:solidFill>
            <a:srgbClr val="F582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97B138-3D87-4672-A608-8FB313AF0D41}"/>
              </a:ext>
            </a:extLst>
          </p:cNvPr>
          <p:cNvSpPr txBox="1"/>
          <p:nvPr/>
        </p:nvSpPr>
        <p:spPr>
          <a:xfrm>
            <a:off x="6731000" y="3225800"/>
            <a:ext cx="457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F5820C"/>
                </a:solidFill>
                <a:latin typeface="Aptos"/>
              </a:rPr>
              <a:t>MARKETING &amp; SUPPORT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51EA2B-6DC9-4DFB-ACAA-40DE5E7291B6}"/>
              </a:ext>
            </a:extLst>
          </p:cNvPr>
          <p:cNvSpPr txBox="1"/>
          <p:nvPr/>
        </p:nvSpPr>
        <p:spPr>
          <a:xfrm>
            <a:off x="6731000" y="3556000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33435F"/>
                </a:solidFill>
                <a:latin typeface="Aptos"/>
              </a:rPr>
              <a:t>Coupons • offers • notifications</a:t>
            </a:r>
          </a:p>
          <a:p>
            <a:r>
              <a:rPr lang="en-US" sz="1100">
                <a:solidFill>
                  <a:srgbClr val="33435F"/>
                </a:solidFill>
                <a:latin typeface="Aptos"/>
              </a:rPr>
              <a:t>Complaints • tickets • ratings</a:t>
            </a:r>
            <a:endParaRPr lang="en-IN" sz="1100">
              <a:solidFill>
                <a:srgbClr val="33435F"/>
              </a:solidFill>
              <a:latin typeface="Aptos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A188882-FE68-453A-82D8-E29CF7E7B6BD}"/>
              </a:ext>
            </a:extLst>
          </p:cNvPr>
          <p:cNvSpPr/>
          <p:nvPr/>
        </p:nvSpPr>
        <p:spPr>
          <a:xfrm>
            <a:off x="609600" y="4622800"/>
            <a:ext cx="5334000" cy="1295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CC9015-9F29-4D5B-A158-50D744D47E4C}"/>
              </a:ext>
            </a:extLst>
          </p:cNvPr>
          <p:cNvSpPr/>
          <p:nvPr/>
        </p:nvSpPr>
        <p:spPr>
          <a:xfrm>
            <a:off x="838200" y="4876800"/>
            <a:ext cx="63500" cy="774700"/>
          </a:xfrm>
          <a:prstGeom prst="rect">
            <a:avLst/>
          </a:prstGeom>
          <a:solidFill>
            <a:srgbClr val="F582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B82410-6963-4E97-B71E-F4D8940381D6}"/>
              </a:ext>
            </a:extLst>
          </p:cNvPr>
          <p:cNvSpPr txBox="1"/>
          <p:nvPr/>
        </p:nvSpPr>
        <p:spPr>
          <a:xfrm>
            <a:off x="1092200" y="4826000"/>
            <a:ext cx="457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F5820C"/>
                </a:solidFill>
                <a:latin typeface="Aptos"/>
              </a:rPr>
              <a:t>REPORTS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8F3117-F738-4710-B329-CF885A5695E4}"/>
              </a:ext>
            </a:extLst>
          </p:cNvPr>
          <p:cNvSpPr txBox="1"/>
          <p:nvPr/>
        </p:nvSpPr>
        <p:spPr>
          <a:xfrm>
            <a:off x="1092200" y="5156200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33435F"/>
                </a:solidFill>
                <a:latin typeface="Aptos"/>
              </a:rPr>
              <a:t>Booking • revenue • rider • partner</a:t>
            </a:r>
          </a:p>
          <a:p>
            <a:r>
              <a:rPr lang="en-US" sz="1100">
                <a:solidFill>
                  <a:srgbClr val="33435F"/>
                </a:solidFill>
                <a:latin typeface="Aptos"/>
              </a:rPr>
              <a:t>Financial reports and CSV export</a:t>
            </a:r>
            <a:endParaRPr lang="en-IN" sz="1100">
              <a:solidFill>
                <a:srgbClr val="33435F"/>
              </a:solidFill>
              <a:latin typeface="Aptos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5EAFB3E-9FD8-452A-A46E-BCB6D1ACCDB6}"/>
              </a:ext>
            </a:extLst>
          </p:cNvPr>
          <p:cNvSpPr/>
          <p:nvPr/>
        </p:nvSpPr>
        <p:spPr>
          <a:xfrm>
            <a:off x="6248400" y="4622800"/>
            <a:ext cx="5334000" cy="1295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62A1B2-169B-4B62-8CF7-A035012D8463}"/>
              </a:ext>
            </a:extLst>
          </p:cNvPr>
          <p:cNvSpPr/>
          <p:nvPr/>
        </p:nvSpPr>
        <p:spPr>
          <a:xfrm>
            <a:off x="6477000" y="4876800"/>
            <a:ext cx="63500" cy="774700"/>
          </a:xfrm>
          <a:prstGeom prst="rect">
            <a:avLst/>
          </a:prstGeom>
          <a:solidFill>
            <a:srgbClr val="F582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AEF7A5-99AB-4970-A2F7-82D6C391A12C}"/>
              </a:ext>
            </a:extLst>
          </p:cNvPr>
          <p:cNvSpPr txBox="1"/>
          <p:nvPr/>
        </p:nvSpPr>
        <p:spPr>
          <a:xfrm>
            <a:off x="6731000" y="4826000"/>
            <a:ext cx="457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F5820C"/>
                </a:solidFill>
                <a:latin typeface="Aptos"/>
              </a:rPr>
              <a:t>SYSTEM &amp; GOVERNANCE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0C329C-558C-48E3-B46B-A5978D23634B}"/>
              </a:ext>
            </a:extLst>
          </p:cNvPr>
          <p:cNvSpPr txBox="1"/>
          <p:nvPr/>
        </p:nvSpPr>
        <p:spPr>
          <a:xfrm>
            <a:off x="6731000" y="5156200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33435F"/>
                </a:solidFill>
                <a:latin typeface="Aptos"/>
              </a:rPr>
              <a:t>Admin roles • CMS • service areas</a:t>
            </a:r>
          </a:p>
          <a:p>
            <a:r>
              <a:rPr lang="en-US" sz="1100">
                <a:solidFill>
                  <a:srgbClr val="33435F"/>
                </a:solidFill>
                <a:latin typeface="Aptos"/>
              </a:rPr>
              <a:t>Settings • audit logs</a:t>
            </a:r>
            <a:endParaRPr lang="en-IN" sz="1100">
              <a:solidFill>
                <a:srgbClr val="33435F"/>
              </a:solidFill>
              <a:latin typeface="Apto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79DE0C-A4D6-4F9D-B7FC-69DCCF7CA0E3}"/>
              </a:ext>
            </a:extLst>
          </p:cNvPr>
          <p:cNvSpPr txBox="1"/>
          <p:nvPr/>
        </p:nvSpPr>
        <p:spPr>
          <a:xfrm>
            <a:off x="584200" y="66040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800">
                <a:solidFill>
                  <a:srgbClr val="74819A"/>
                </a:solidFill>
                <a:latin typeface="Aptos"/>
              </a:rPr>
              <a:t>ANZ CABS  |  RIDER &amp; TRANSPORT PLATFORM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FFF606-47DF-4E0E-A04C-90C26E8660BA}"/>
              </a:ext>
            </a:extLst>
          </p:cNvPr>
          <p:cNvSpPr txBox="1"/>
          <p:nvPr/>
        </p:nvSpPr>
        <p:spPr>
          <a:xfrm>
            <a:off x="11430000" y="6591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800" b="1">
                <a:solidFill>
                  <a:srgbClr val="74819A"/>
                </a:solidFill>
                <a:latin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56883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646F4D-3DB8-4CE2-954D-14480C974B84}"/>
              </a:ext>
            </a:extLst>
          </p:cNvPr>
          <p:cNvSpPr txBox="1"/>
          <p:nvPr/>
        </p:nvSpPr>
        <p:spPr>
          <a:xfrm>
            <a:off x="609600" y="368300"/>
            <a:ext cx="7620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2500" b="1">
                <a:solidFill>
                  <a:srgbClr val="0E1B32"/>
                </a:solidFill>
                <a:latin typeface="Aptos"/>
              </a:rPr>
              <a:t>App scope &amp; local run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667040-0501-4895-8635-47CC33382863}"/>
              </a:ext>
            </a:extLst>
          </p:cNvPr>
          <p:cNvSpPr txBox="1"/>
          <p:nvPr/>
        </p:nvSpPr>
        <p:spPr>
          <a:xfrm>
            <a:off x="635000" y="1270000"/>
            <a:ext cx="4953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00" b="1">
                <a:solidFill>
                  <a:srgbClr val="F5820C"/>
                </a:solidFill>
                <a:latin typeface="Aptos"/>
              </a:rPr>
              <a:t>What this repository contains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EA00E0-8FA1-495F-B15B-BCE1DB58BE27}"/>
              </a:ext>
            </a:extLst>
          </p:cNvPr>
          <p:cNvSpPr/>
          <p:nvPr/>
        </p:nvSpPr>
        <p:spPr>
          <a:xfrm>
            <a:off x="609600" y="1739900"/>
            <a:ext cx="5143500" cy="37338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C32180-6367-4785-B10C-0528E37A22F0}"/>
              </a:ext>
            </a:extLst>
          </p:cNvPr>
          <p:cNvSpPr txBox="1"/>
          <p:nvPr/>
        </p:nvSpPr>
        <p:spPr>
          <a:xfrm>
            <a:off x="889000" y="2032000"/>
            <a:ext cx="431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0E1B32"/>
                </a:solidFill>
                <a:latin typeface="Aptos"/>
              </a:rPr>
              <a:t>INCLUDED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ECF9B7-0C43-4B37-85B5-07592279C7F4}"/>
              </a:ext>
            </a:extLst>
          </p:cNvPr>
          <p:cNvSpPr txBox="1"/>
          <p:nvPr/>
        </p:nvSpPr>
        <p:spPr>
          <a:xfrm>
            <a:off x="889000" y="2501900"/>
            <a:ext cx="43180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33435F"/>
                </a:solidFill>
                <a:latin typeface="Aptos"/>
              </a:rPr>
              <a:t>• Browser-based admin frontend</a:t>
            </a:r>
          </a:p>
          <a:p>
            <a:r>
              <a:rPr lang="en-US" sz="1300">
                <a:solidFill>
                  <a:srgbClr val="33435F"/>
                </a:solidFill>
                <a:latin typeface="Aptos"/>
              </a:rPr>
              <a:t>• Admin REST API: /api/v1/admin/*</a:t>
            </a:r>
          </a:p>
          <a:p>
            <a:r>
              <a:rPr lang="en-US" sz="1300">
                <a:solidFill>
                  <a:srgbClr val="33435F"/>
                </a:solidFill>
                <a:latin typeface="Aptos"/>
              </a:rPr>
              <a:t>• Mobile-client API routes: /api/v1/app/*</a:t>
            </a:r>
          </a:p>
          <a:p>
            <a:r>
              <a:rPr lang="en-US" sz="1300">
                <a:solidFill>
                  <a:srgbClr val="33435F"/>
                </a:solidFill>
                <a:latin typeface="Aptos"/>
              </a:rPr>
              <a:t>• MongoDB-backed dashboard and modules</a:t>
            </a:r>
            <a:endParaRPr lang="en-IN" sz="1300">
              <a:solidFill>
                <a:srgbClr val="33435F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6C24BE-5B7F-4A2E-A34D-BDFD6D82E4E2}"/>
              </a:ext>
            </a:extLst>
          </p:cNvPr>
          <p:cNvSpPr txBox="1"/>
          <p:nvPr/>
        </p:nvSpPr>
        <p:spPr>
          <a:xfrm>
            <a:off x="889000" y="4495800"/>
            <a:ext cx="431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F5820C"/>
                </a:solidFill>
                <a:latin typeface="Aptos"/>
              </a:rPr>
              <a:t>LOCAL SERVICES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7F7098-4C42-4EF1-AD06-ED2DC94C95B2}"/>
              </a:ext>
            </a:extLst>
          </p:cNvPr>
          <p:cNvSpPr txBox="1"/>
          <p:nvPr/>
        </p:nvSpPr>
        <p:spPr>
          <a:xfrm>
            <a:off x="889000" y="4826000"/>
            <a:ext cx="4318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>
                <a:solidFill>
                  <a:srgbClr val="51617C"/>
                </a:solidFill>
                <a:latin typeface="Aptos"/>
              </a:rPr>
              <a:t>Frontend  http://localhost:5180</a:t>
            </a:r>
          </a:p>
          <a:p>
            <a:r>
              <a:rPr lang="en-IN" sz="1000">
                <a:solidFill>
                  <a:srgbClr val="51617C"/>
                </a:solidFill>
                <a:latin typeface="Aptos"/>
              </a:rPr>
              <a:t>API  http://localhost:5050</a:t>
            </a:r>
          </a:p>
          <a:p>
            <a:r>
              <a:rPr lang="en-IN" sz="1000">
                <a:solidFill>
                  <a:srgbClr val="51617C"/>
                </a:solidFill>
                <a:latin typeface="Aptos"/>
              </a:rPr>
              <a:t>MongoDB  127.0.0.1:27017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7772A33-6AC5-4BF3-B1F4-0D348A12179B}"/>
              </a:ext>
            </a:extLst>
          </p:cNvPr>
          <p:cNvSpPr/>
          <p:nvPr/>
        </p:nvSpPr>
        <p:spPr>
          <a:xfrm>
            <a:off x="6248400" y="1739900"/>
            <a:ext cx="5334000" cy="3733800"/>
          </a:xfrm>
          <a:prstGeom prst="roundRect">
            <a:avLst/>
          </a:prstGeom>
          <a:solidFill>
            <a:srgbClr val="FFF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BE3298-A5EB-428D-8503-57A87344EEBC}"/>
              </a:ext>
            </a:extLst>
          </p:cNvPr>
          <p:cNvSpPr txBox="1"/>
          <p:nvPr/>
        </p:nvSpPr>
        <p:spPr>
          <a:xfrm>
            <a:off x="6553200" y="2032000"/>
            <a:ext cx="469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C26200"/>
                </a:solidFill>
                <a:latin typeface="Aptos"/>
              </a:rPr>
              <a:t>NOT INCLUDED IN THIS REPOSITORY</a:t>
            </a:r>
            <a:endParaRPr lang="en-IN" sz="1100" b="1">
              <a:solidFill>
                <a:srgbClr val="C26200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AB1406-3EFE-4339-B225-7F88786FEC12}"/>
              </a:ext>
            </a:extLst>
          </p:cNvPr>
          <p:cNvSpPr txBox="1"/>
          <p:nvPr/>
        </p:nvSpPr>
        <p:spPr>
          <a:xfrm>
            <a:off x="6553200" y="2667000"/>
            <a:ext cx="46355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33435F"/>
                </a:solidFill>
                <a:latin typeface="Aptos"/>
              </a:rPr>
              <a:t>No separate customer-facing website or mobile app screens are present here. The app-facing API is available for client applications; their UI belongs to a separate project.</a:t>
            </a:r>
            <a:endParaRPr lang="en-IN" sz="1500">
              <a:solidFill>
                <a:srgbClr val="33435F"/>
              </a:solidFill>
              <a:latin typeface="Apto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477F0C-A88C-4FE3-8BEA-A64A670BA435}"/>
              </a:ext>
            </a:extLst>
          </p:cNvPr>
          <p:cNvSpPr txBox="1"/>
          <p:nvPr/>
        </p:nvSpPr>
        <p:spPr>
          <a:xfrm>
            <a:off x="6553200" y="4508500"/>
            <a:ext cx="463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51617C"/>
                </a:solidFill>
                <a:latin typeface="Aptos"/>
              </a:rPr>
              <a:t>This walkthrough shows the available admin experience—not a mock customer app.</a:t>
            </a:r>
            <a:endParaRPr lang="en-IN" sz="1200" b="1">
              <a:solidFill>
                <a:srgbClr val="51617C"/>
              </a:solidFill>
              <a:latin typeface="Apto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7F1FCD-1FA8-455B-B51E-87218CE0770E}"/>
              </a:ext>
            </a:extLst>
          </p:cNvPr>
          <p:cNvSpPr txBox="1"/>
          <p:nvPr/>
        </p:nvSpPr>
        <p:spPr>
          <a:xfrm>
            <a:off x="584200" y="66040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800">
                <a:solidFill>
                  <a:srgbClr val="74819A"/>
                </a:solidFill>
                <a:latin typeface="Aptos"/>
              </a:rPr>
              <a:t>ANZ CABS  |  RIDER &amp; TRANSPORT PLATFORM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C0CA60-1002-45CE-BB88-4D64A38437D9}"/>
              </a:ext>
            </a:extLst>
          </p:cNvPr>
          <p:cNvSpPr txBox="1"/>
          <p:nvPr/>
        </p:nvSpPr>
        <p:spPr>
          <a:xfrm>
            <a:off x="11430000" y="6591300"/>
            <a:ext cx="38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800" b="1">
                <a:solidFill>
                  <a:srgbClr val="74819A"/>
                </a:solidFill>
                <a:latin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61195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</Words>
  <Application>Microsoft Office PowerPoint</Application>
  <PresentationFormat>Widescreen</PresentationFormat>
  <Paragraphs>62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2</cp:revision>
  <dcterms:created xsi:type="dcterms:W3CDTF">2026-10-05T12:47:42Z</dcterms:created>
  <dcterms:modified xsi:type="dcterms:W3CDTF">2026-10-05T12:52:18Z</dcterms:modified>
</cp:coreProperties>
</file>